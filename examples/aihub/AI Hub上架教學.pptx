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797675" cy="992822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gsfAHyLBv/8WJDJ2TekIiv4fiT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46400" cy="498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49688" y="0"/>
            <a:ext cx="2946400" cy="498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29750"/>
            <a:ext cx="2946400" cy="4984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20" Type="http://schemas.openxmlformats.org/officeDocument/2006/relationships/hyperlink" Target="https://cdrdv2-public.intel.com/867305/IDC%20Edge%20AI%20white%20paper.pdf" TargetMode="External"/><Relationship Id="rId11" Type="http://schemas.openxmlformats.org/officeDocument/2006/relationships/hyperlink" Target="https://dblp.org/rec/conf/icml/0007ZYLRCLRSZ23" TargetMode="External"/><Relationship Id="rId22" Type="http://schemas.openxmlformats.org/officeDocument/2006/relationships/hyperlink" Target="https://www.papercache.org/papers/llm/engineering/inference/2022/07/01/orca-a-distributed-serving-system-for-transformer-based-generative-models" TargetMode="External"/><Relationship Id="rId10" Type="http://schemas.openxmlformats.org/officeDocument/2006/relationships/hyperlink" Target="https://arxiv.org/abs/1911.02549" TargetMode="External"/><Relationship Id="rId21" Type="http://schemas.openxmlformats.org/officeDocument/2006/relationships/hyperlink" Target="https://www.smartindustry.com/benefits-of-transformation/digital-transformation/article/55238241/managing-the-industrial-edge-challenges-approaches-and-solutions" TargetMode="External"/><Relationship Id="rId13" Type="http://schemas.openxmlformats.org/officeDocument/2006/relationships/hyperlink" Target="https://pdfs.semanticscholar.org/4a29/a385c54cecc75f94fca21aa4697df6375c6e.pdf" TargetMode="External"/><Relationship Id="rId24" Type="http://schemas.openxmlformats.org/officeDocument/2006/relationships/hyperlink" Target="https://dblp.org/rec/conf/osdi/YuJKKC22" TargetMode="External"/><Relationship Id="rId12" Type="http://schemas.openxmlformats.org/officeDocument/2006/relationships/hyperlink" Target="https://www.cs.toronto.edu/ecosystem/papers/ISCA_20/MLPerf%20Inference.pdf" TargetMode="External"/><Relationship Id="rId23" Type="http://schemas.openxmlformats.org/officeDocument/2006/relationships/hyperlink" Target="https://link.springer.com/article/10.1007/s44163-024-00151-2" TargetMode="External"/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wevolver.com/article/2024-state-of-edge-ai-report/edge-ai-challenges-and-real-world-mitigations" TargetMode="External"/><Relationship Id="rId3" Type="http://schemas.openxmlformats.org/officeDocument/2006/relationships/hyperlink" Target="https://deepwiki.com/luhengshiwo/LLMForEverybody/6.1.1-deployment-challenges" TargetMode="External"/><Relationship Id="rId4" Type="http://schemas.openxmlformats.org/officeDocument/2006/relationships/hyperlink" Target="https://www.smartindustry.com/benefits-of-transformation/digital-transformation/article/55238241/managing-the-industrial-edge-challenges-approaches-and-solutions" TargetMode="External"/><Relationship Id="rId9" Type="http://schemas.openxmlformats.org/officeDocument/2006/relationships/hyperlink" Target="https://ieeexplore.ieee.org/document/11132534" TargetMode="External"/><Relationship Id="rId15" Type="http://schemas.openxmlformats.org/officeDocument/2006/relationships/hyperlink" Target="https://www.academia.edu/143171385/MLPerf_Inference_Benchmark" TargetMode="External"/><Relationship Id="rId14" Type="http://schemas.openxmlformats.org/officeDocument/2006/relationships/hyperlink" Target="https://mlcommons.org/2026/04/mlperf-inference-v6-0-results/" TargetMode="External"/><Relationship Id="rId17" Type="http://schemas.openxmlformats.org/officeDocument/2006/relationships/hyperlink" Target="https://scispace.com/papers/the-tail-at-scale-3dehddoh1t" TargetMode="External"/><Relationship Id="rId16" Type="http://schemas.openxmlformats.org/officeDocument/2006/relationships/hyperlink" Target="https://mlsysbook.ai/book/contents/core/benchmarking/benchmarking.html" TargetMode="External"/><Relationship Id="rId5" Type="http://schemas.openxmlformats.org/officeDocument/2006/relationships/hyperlink" Target="https://www.papercache.org/papers/llm/engineering/inference/2022/07/01/orca-a-distributed-serving-system-for-transformer-based-generative-models" TargetMode="External"/><Relationship Id="rId19" Type="http://schemas.openxmlformats.org/officeDocument/2006/relationships/hyperlink" Target="https://www.ijsat.org/papers/2025/1/6696.pdf" TargetMode="External"/><Relationship Id="rId6" Type="http://schemas.openxmlformats.org/officeDocument/2006/relationships/hyperlink" Target="https://www.vision-systems.com/boards-software/article/55307538/six-challenges-of-integrating-edge-ai-into-industrial-vision-systems" TargetMode="External"/><Relationship Id="rId18" Type="http://schemas.openxmlformats.org/officeDocument/2006/relationships/hyperlink" Target="https://www.wevolver.com/article/2025-edge-ai-technology-report/building-an-edge-ai-ecosystem" TargetMode="External"/><Relationship Id="rId7" Type="http://schemas.openxmlformats.org/officeDocument/2006/relationships/hyperlink" Target="https://www.swiftscholar.net/zh/paper/6900c1a9272c0b89d44bd6c7" TargetMode="External"/><Relationship Id="rId8" Type="http://schemas.openxmlformats.org/officeDocument/2006/relationships/hyperlink" Target="https://www.mdpi.com/2079-9292/14/24/4877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4" name="Google Shape;34;p1:notes"/>
          <p:cNvSpPr txBox="1"/>
          <p:nvPr>
            <p:ph idx="1" type="body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" name="Google Shape;35;p1:notes"/>
          <p:cNvSpPr txBox="1"/>
          <p:nvPr>
            <p:ph idx="12" type="sldNum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f58af72fe8_0_1:notes"/>
          <p:cNvSpPr/>
          <p:nvPr>
            <p:ph idx="2" type="sldImg"/>
          </p:nvPr>
        </p:nvSpPr>
        <p:spPr>
          <a:xfrm>
            <a:off x="422275" y="1241425"/>
            <a:ext cx="5953200" cy="334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" name="Google Shape;42;g3f58af72fe8_0_1:notes"/>
          <p:cNvSpPr txBox="1"/>
          <p:nvPr>
            <p:ph idx="1" type="body"/>
          </p:nvPr>
        </p:nvSpPr>
        <p:spPr>
          <a:xfrm>
            <a:off x="679450" y="4778375"/>
            <a:ext cx="5438700" cy="3908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g3f58af72fe8_0_1:notes"/>
          <p:cNvSpPr txBox="1"/>
          <p:nvPr>
            <p:ph idx="12" type="sldNum"/>
          </p:nvPr>
        </p:nvSpPr>
        <p:spPr>
          <a:xfrm>
            <a:off x="3849688" y="9429750"/>
            <a:ext cx="2946300" cy="498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2:notes"/>
          <p:cNvSpPr txBox="1"/>
          <p:nvPr>
            <p:ph idx="1" type="body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zh-TW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根據 Cake 調查，</a:t>
            </a:r>
            <a:r>
              <a:rPr b="1" i="0" lang="zh-TW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78% 的受訪人才偏向「應用型角色」</a:t>
            </a:r>
            <a:r>
              <a:rPr b="0" i="0" lang="zh-TW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，反映出市場急需能直接將工具轉化為生產力的開發者，而非深陷底層架構斷裂的調校工作中。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zh-TW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① 硬體/工具鏈差異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b="0" i="0" lang="zh-TW" sz="1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Wevolver｜2024 State of Edge AI Report：Edge AI Challenges and Real-World Mitigations（章節提及 lack of hardware standards、integration challenges）</a:t>
            </a:r>
            <a:r>
              <a:rPr b="0" i="0" lang="zh-TW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zh-TW" sz="1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[deepwiki.com]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b="0" i="0" lang="zh-TW" sz="1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Smart Industry｜Managing the industrial edge: challenges, approaches and solutions（強調工業邊緣裝置異質、管理/更新困難，難以用人工方式規模化）</a:t>
            </a:r>
            <a:r>
              <a:rPr b="0" i="0" lang="zh-TW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zh-TW" sz="1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[papercache.org]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b="0" i="0" lang="zh-TW" sz="1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Vision Systems Design｜Six Challenges of Integrating Edge AI into Industrial Vision Systems（點出 hardware compatibility、碎片化 NPU/toolchain、需降低重驗證負擔）</a:t>
            </a:r>
            <a:r>
              <a:rPr b="0" i="0" lang="zh-TW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zh-TW" sz="1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[swiftscholar.net]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b="0" i="0" lang="zh-TW" sz="1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MDPI Electronics｜Edge AI in Practice: A Survey and Deployment Framework for Neural Networks on Embedded Systems（指出硬體工具鏈差異與缺乏標準化整體 benchmarking）</a:t>
            </a:r>
            <a:r>
              <a:rPr b="0" i="0" lang="zh-TW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zh-TW" sz="1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[ieeexplore.ieee.org]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zh-TW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② 缺乏參考依據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b="0" i="0" lang="zh-TW" sz="1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MLPerf｜MLPerf Inference Benchmark（arXiv/ISCA 2020；明確寫出需要 industry‑wide standard benchmarking &amp; evaluation criteria）</a:t>
            </a:r>
            <a:r>
              <a:rPr b="0" i="0" lang="zh-TW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zh-TW" sz="1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[dblp.org]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b="0" i="0" lang="zh-TW" sz="1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MLPerf Inference Benchmark（PDF 版，適合放頁腳/附錄）</a:t>
            </a:r>
            <a:r>
              <a:rPr b="0" i="0" lang="zh-TW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zh-TW" sz="1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[pdfs.seman...cholar.org]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b="0" i="0" lang="zh-TW" sz="1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MLCommons｜MLPerf Inference v6.0 Results（強調 MLPerf 為 industry-standard、並持續更新以符合真實部署情境）</a:t>
            </a:r>
            <a:r>
              <a:rPr b="0" i="0" lang="zh-TW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zh-TW" sz="1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[academia.edu]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b="0" i="0" lang="zh-TW" sz="1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ML Systems Textbook｜Benchmarking 章節（說明標準化量測/基準是工程進步與可比較性的基礎）</a:t>
            </a:r>
            <a:r>
              <a:rPr b="0" i="0" lang="zh-TW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zh-TW" sz="1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[scispace.com]</a:t>
            </a:r>
            <a:br>
              <a:rPr b="0" i="0" lang="zh-TW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zh-TW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③ 方案難以規模化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b="0" i="0" lang="zh-TW" sz="1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1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Wevolver｜The 2025 Edge AI Technology Report：Building an Edge AI Ecosystem（指出若缺乏 scalable deployment models 等，edge AI 難以規模化擴散）</a:t>
            </a:r>
            <a:r>
              <a:rPr b="0" i="0" lang="zh-TW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zh-TW" sz="1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1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[ijsat.org]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b="0" i="0" lang="zh-TW" sz="1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2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IDC White Paper（Intel sponsored）｜Edge AI: Paving the Way…（章節涵蓋 systems integration、TCO、interoperability，強調規模部署的整合與營運挑戰）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b="0" i="0" lang="zh-TW" sz="1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2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Smart Industry｜Managing the industrial edge…（指出上百/上千節點的管理、更新、維運，靠 man-in-the-loop 不實際，是規模化落地障礙）</a:t>
            </a:r>
            <a:r>
              <a:rPr b="0" i="0" lang="zh-TW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zh-TW" sz="1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2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[papercache.org]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400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b="0" i="0" lang="zh-TW" sz="1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2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Springer｜Challenges with developing and deploying AI models and applications in industrial systems（產業場域從概念到規模化部署的多面向障礙）</a:t>
            </a:r>
            <a:r>
              <a:rPr b="0" i="0" lang="zh-TW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zh-TW" sz="1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2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[dblp.org]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400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zh-TW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Platform-Agnostic MLOps on Edge, Fog and Cloud Platforms in Industrial IoT（WEBIST 2024，PDF） - https://dsg.tuwien.ac.at/~sd/papers/WEBIST_2024_A_Furutanpey.pdf</a:t>
            </a:r>
            <a:endParaRPr/>
          </a:p>
        </p:txBody>
      </p:sp>
      <p:sp>
        <p:nvSpPr>
          <p:cNvPr id="50" name="Google Shape;50;p2:notes"/>
          <p:cNvSpPr txBox="1"/>
          <p:nvPr>
            <p:ph idx="12" type="sldNum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9:notes"/>
          <p:cNvSpPr txBox="1"/>
          <p:nvPr>
            <p:ph idx="1" type="body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8" name="Google Shape;68;p9:notes"/>
          <p:cNvSpPr txBox="1"/>
          <p:nvPr>
            <p:ph idx="12" type="sldNum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5494daa5e_0_41:notes"/>
          <p:cNvSpPr/>
          <p:nvPr>
            <p:ph idx="2" type="sldImg"/>
          </p:nvPr>
        </p:nvSpPr>
        <p:spPr>
          <a:xfrm>
            <a:off x="422275" y="1241425"/>
            <a:ext cx="5953200" cy="334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f5494daa5e_0_41:notes"/>
          <p:cNvSpPr txBox="1"/>
          <p:nvPr>
            <p:ph idx="1" type="body"/>
          </p:nvPr>
        </p:nvSpPr>
        <p:spPr>
          <a:xfrm>
            <a:off x="679450" y="4778375"/>
            <a:ext cx="5438700" cy="39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/>
          </a:p>
        </p:txBody>
      </p:sp>
      <p:sp>
        <p:nvSpPr>
          <p:cNvPr id="88" name="Google Shape;88;g3f5494daa5e_0_41:notes"/>
          <p:cNvSpPr txBox="1"/>
          <p:nvPr>
            <p:ph idx="12" type="sldNum"/>
          </p:nvPr>
        </p:nvSpPr>
        <p:spPr>
          <a:xfrm>
            <a:off x="3849688" y="9429750"/>
            <a:ext cx="29463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6f8ddc8c5_0_100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3e6f8ddc8c5_0_100:notes"/>
          <p:cNvSpPr txBox="1"/>
          <p:nvPr>
            <p:ph idx="1" type="body"/>
          </p:nvPr>
        </p:nvSpPr>
        <p:spPr>
          <a:xfrm>
            <a:off x="679450" y="4778375"/>
            <a:ext cx="5438700" cy="39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/>
          </a:p>
        </p:txBody>
      </p:sp>
      <p:sp>
        <p:nvSpPr>
          <p:cNvPr id="104" name="Google Shape;104;g3e6f8ddc8c5_0_100:notes"/>
          <p:cNvSpPr txBox="1"/>
          <p:nvPr>
            <p:ph idx="12" type="sldNum"/>
          </p:nvPr>
        </p:nvSpPr>
        <p:spPr>
          <a:xfrm>
            <a:off x="3849688" y="9429750"/>
            <a:ext cx="29463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5494daa5e_0_51:notes"/>
          <p:cNvSpPr/>
          <p:nvPr>
            <p:ph idx="2" type="sldImg"/>
          </p:nvPr>
        </p:nvSpPr>
        <p:spPr>
          <a:xfrm>
            <a:off x="422275" y="1241425"/>
            <a:ext cx="5953200" cy="334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g3f5494daa5e_0_51:notes"/>
          <p:cNvSpPr txBox="1"/>
          <p:nvPr>
            <p:ph idx="1" type="body"/>
          </p:nvPr>
        </p:nvSpPr>
        <p:spPr>
          <a:xfrm>
            <a:off x="679450" y="4778375"/>
            <a:ext cx="5438700" cy="39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/>
          </a:p>
        </p:txBody>
      </p:sp>
      <p:sp>
        <p:nvSpPr>
          <p:cNvPr id="118" name="Google Shape;118;g3f5494daa5e_0_51:notes"/>
          <p:cNvSpPr txBox="1"/>
          <p:nvPr>
            <p:ph idx="12" type="sldNum"/>
          </p:nvPr>
        </p:nvSpPr>
        <p:spPr>
          <a:xfrm>
            <a:off x="3849688" y="9429750"/>
            <a:ext cx="29463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5494daa5e_0_46:notes"/>
          <p:cNvSpPr/>
          <p:nvPr>
            <p:ph idx="2" type="sldImg"/>
          </p:nvPr>
        </p:nvSpPr>
        <p:spPr>
          <a:xfrm>
            <a:off x="422275" y="1241425"/>
            <a:ext cx="5953200" cy="334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f5494daa5e_0_46:notes"/>
          <p:cNvSpPr txBox="1"/>
          <p:nvPr>
            <p:ph idx="1" type="body"/>
          </p:nvPr>
        </p:nvSpPr>
        <p:spPr>
          <a:xfrm>
            <a:off x="679450" y="4778375"/>
            <a:ext cx="5438700" cy="39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/>
          </a:p>
        </p:txBody>
      </p:sp>
      <p:sp>
        <p:nvSpPr>
          <p:cNvPr id="130" name="Google Shape;130;g3f5494daa5e_0_46:notes"/>
          <p:cNvSpPr txBox="1"/>
          <p:nvPr>
            <p:ph idx="12" type="sldNum"/>
          </p:nvPr>
        </p:nvSpPr>
        <p:spPr>
          <a:xfrm>
            <a:off x="3849688" y="9429750"/>
            <a:ext cx="29463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6f8ddc8c5_0_156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e6f8ddc8c5_0_156:notes"/>
          <p:cNvSpPr txBox="1"/>
          <p:nvPr>
            <p:ph idx="1" type="body"/>
          </p:nvPr>
        </p:nvSpPr>
        <p:spPr>
          <a:xfrm>
            <a:off x="679450" y="4778375"/>
            <a:ext cx="5438700" cy="39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8" name="Google Shape;148;g3e6f8ddc8c5_0_156:notes"/>
          <p:cNvSpPr txBox="1"/>
          <p:nvPr>
            <p:ph idx="12" type="sldNum"/>
          </p:nvPr>
        </p:nvSpPr>
        <p:spPr>
          <a:xfrm>
            <a:off x="3849688" y="9429750"/>
            <a:ext cx="29463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標題投影片" showMasterSp="0">
  <p:cSld name="2_標題投影片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版" id="17" name="Google Shape;1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05802" y="2991902"/>
            <a:ext cx="3886200" cy="3866098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1"/>
          <p:cNvSpPr/>
          <p:nvPr/>
        </p:nvSpPr>
        <p:spPr>
          <a:xfrm>
            <a:off x="-1" y="6618288"/>
            <a:ext cx="12192000" cy="239712"/>
          </a:xfrm>
          <a:prstGeom prst="rect">
            <a:avLst/>
          </a:prstGeom>
          <a:solidFill>
            <a:srgbClr val="00B2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tri_CEL_A_W" id="19" name="Google Shape;1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8851" y="579438"/>
            <a:ext cx="3328988" cy="1042987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1"/>
          <p:cNvSpPr txBox="1"/>
          <p:nvPr>
            <p:ph type="ctrTitle"/>
          </p:nvPr>
        </p:nvSpPr>
        <p:spPr>
          <a:xfrm>
            <a:off x="836698" y="2584703"/>
            <a:ext cx="6596065" cy="12192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2B3"/>
              </a:buClr>
              <a:buSzPts val="4400"/>
              <a:buFont typeface="Trebuchet MS"/>
              <a:buNone/>
              <a:defRPr b="1" sz="4400">
                <a:solidFill>
                  <a:srgbClr val="00B2B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" type="subTitle"/>
          </p:nvPr>
        </p:nvSpPr>
        <p:spPr>
          <a:xfrm>
            <a:off x="853791" y="5059680"/>
            <a:ext cx="6770872" cy="75590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None/>
              <a:defRPr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11614808" y="6619875"/>
            <a:ext cx="5715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3" name="Google Shape;23;p11"/>
          <p:cNvSpPr txBox="1"/>
          <p:nvPr>
            <p:ph idx="2" type="body"/>
          </p:nvPr>
        </p:nvSpPr>
        <p:spPr>
          <a:xfrm>
            <a:off x="853790" y="5902262"/>
            <a:ext cx="2788603" cy="432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/>
        </p:nvSpPr>
        <p:spPr>
          <a:xfrm>
            <a:off x="-1" y="6616092"/>
            <a:ext cx="356716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zh-TW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©工業技術研究院  權利所有。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" name="Google Shape;2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09266" y="0"/>
            <a:ext cx="682734" cy="310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2"/>
          <p:cNvSpPr txBox="1"/>
          <p:nvPr>
            <p:ph idx="1" type="body"/>
          </p:nvPr>
        </p:nvSpPr>
        <p:spPr>
          <a:xfrm>
            <a:off x="519599" y="1225935"/>
            <a:ext cx="111528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type="title"/>
          </p:nvPr>
        </p:nvSpPr>
        <p:spPr>
          <a:xfrm>
            <a:off x="0" y="0"/>
            <a:ext cx="12191999" cy="7807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2B3"/>
              </a:buClr>
              <a:buSzPts val="3600"/>
              <a:buFont typeface="Microsoft YaHei"/>
              <a:buNone/>
              <a:defRPr b="1" sz="3600">
                <a:solidFill>
                  <a:srgbClr val="00B2B3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9" name="Google Shape;29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09266" y="0"/>
            <a:ext cx="682734" cy="310333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2"/>
          <p:cNvSpPr txBox="1"/>
          <p:nvPr/>
        </p:nvSpPr>
        <p:spPr>
          <a:xfrm>
            <a:off x="0" y="6642556"/>
            <a:ext cx="785336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zh-TW" sz="8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工業技術研究院機密資料 禁止複製、轉載、外流 ITRI CONFIDENTIAL DOCUMENT DO NOT COPY OR DISTRIBUTE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2"/>
          <p:cNvSpPr txBox="1"/>
          <p:nvPr/>
        </p:nvSpPr>
        <p:spPr>
          <a:xfrm>
            <a:off x="11916927" y="6533234"/>
            <a:ext cx="275073" cy="276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rebuchet MS"/>
              <a:buNone/>
              <a:defRPr b="0" i="0" sz="4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5" name="Google Shape;15;p1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509266" y="0"/>
            <a:ext cx="682734" cy="31033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Relationship Id="rId6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21.png"/><Relationship Id="rId5" Type="http://schemas.openxmlformats.org/officeDocument/2006/relationships/image" Target="../media/image23.png"/><Relationship Id="rId6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"/>
          <p:cNvSpPr/>
          <p:nvPr/>
        </p:nvSpPr>
        <p:spPr>
          <a:xfrm>
            <a:off x="650550" y="1828561"/>
            <a:ext cx="10890901" cy="13913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1" i="0" lang="zh-TW" sz="4600" u="none" cap="none" strike="noStrike">
                <a:solidFill>
                  <a:srgbClr val="00B2B3"/>
                </a:solidFill>
                <a:latin typeface="Arial"/>
                <a:ea typeface="Arial"/>
                <a:cs typeface="Arial"/>
                <a:sym typeface="Arial"/>
              </a:rPr>
              <a:t>AI Hub</a:t>
            </a:r>
            <a:r>
              <a:rPr b="1" lang="zh-TW" sz="4600">
                <a:solidFill>
                  <a:srgbClr val="00B2B3"/>
                </a:solidFill>
              </a:rPr>
              <a:t>上架教學</a:t>
            </a:r>
            <a:endParaRPr b="1" i="0" sz="4600" u="none" cap="none" strike="noStrike">
              <a:solidFill>
                <a:srgbClr val="00B2B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1172675" y="3394849"/>
            <a:ext cx="10134300" cy="20176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zh-TW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報告人：</a:t>
            </a:r>
            <a:r>
              <a:rPr b="0" i="0" lang="zh-TW" sz="24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電光系統所 陳冠穎</a:t>
            </a:r>
            <a:endParaRPr b="0" i="0" sz="2400" u="none" cap="none" strike="noStrik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3773104" y="5907075"/>
            <a:ext cx="4645794" cy="796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zh-TW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簡報日期：2026/07/22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f58af72fe8_0_1"/>
          <p:cNvSpPr txBox="1"/>
          <p:nvPr>
            <p:ph type="title"/>
          </p:nvPr>
        </p:nvSpPr>
        <p:spPr>
          <a:xfrm>
            <a:off x="0" y="0"/>
            <a:ext cx="12192000" cy="780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課程綱要</a:t>
            </a:r>
            <a:endParaRPr/>
          </a:p>
        </p:txBody>
      </p:sp>
      <p:sp>
        <p:nvSpPr>
          <p:cNvPr id="46" name="Google Shape;46;g3f58af72fe8_0_1"/>
          <p:cNvSpPr txBox="1"/>
          <p:nvPr>
            <p:ph idx="1" type="body"/>
          </p:nvPr>
        </p:nvSpPr>
        <p:spPr>
          <a:xfrm>
            <a:off x="519599" y="1225935"/>
            <a:ext cx="111528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zh-TW"/>
              <a:t>一、通過AI Hub 上架硬體 (基本資訊)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zh-TW"/>
              <a:t>二、通過AI Hub 上架模型 (基本資訊+</a:t>
            </a:r>
            <a:r>
              <a:rPr lang="zh-TW"/>
              <a:t>AIaaS容器</a:t>
            </a:r>
            <a:r>
              <a:rPr lang="zh-TW"/>
              <a:t>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zh-TW"/>
              <a:t>三、通過Python部署基礎的Agent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"/>
          <p:cNvSpPr txBox="1"/>
          <p:nvPr>
            <p:ph type="title"/>
          </p:nvPr>
        </p:nvSpPr>
        <p:spPr>
          <a:xfrm>
            <a:off x="0" y="0"/>
            <a:ext cx="12192000" cy="7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2B3"/>
              </a:buClr>
              <a:buSzPts val="3600"/>
              <a:buFont typeface="Microsoft YaHei"/>
              <a:buNone/>
            </a:pPr>
            <a:r>
              <a:rPr lang="zh-TW"/>
              <a:t>產品與服務</a:t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-3035427" y="3235701"/>
            <a:ext cx="11275200" cy="24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1647075" y="823874"/>
            <a:ext cx="9896100" cy="1077300"/>
          </a:xfrm>
          <a:prstGeom prst="rect">
            <a:avLst/>
          </a:prstGeom>
          <a:solidFill>
            <a:srgbClr val="BBE0E3">
              <a:alpha val="2862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 txBox="1"/>
          <p:nvPr/>
        </p:nvSpPr>
        <p:spPr>
          <a:xfrm>
            <a:off x="568826" y="829250"/>
            <a:ext cx="1106400" cy="1077300"/>
          </a:xfrm>
          <a:prstGeom prst="rect">
            <a:avLst/>
          </a:prstGeom>
          <a:solidFill>
            <a:srgbClr val="3C8C9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zh-TW" sz="3200">
                <a:solidFill>
                  <a:srgbClr val="FFFFFF"/>
                </a:solidFill>
              </a:rPr>
              <a:t>核心觀念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 txBox="1"/>
          <p:nvPr/>
        </p:nvSpPr>
        <p:spPr>
          <a:xfrm>
            <a:off x="1675225" y="825264"/>
            <a:ext cx="9896100" cy="109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zh-TW" sz="2600">
                <a:solidFill>
                  <a:srgbClr val="4B63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一個</a:t>
            </a:r>
            <a:r>
              <a:rPr b="1" lang="zh-TW" sz="2600">
                <a:solidFill>
                  <a:srgbClr val="98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訓練/微調好的AI模型</a:t>
            </a:r>
            <a:r>
              <a:rPr b="1" lang="zh-TW" sz="2600">
                <a:solidFill>
                  <a:srgbClr val="4B63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要落地</a:t>
            </a:r>
            <a:r>
              <a:rPr b="1" lang="zh-TW" sz="2600">
                <a:solidFill>
                  <a:srgbClr val="4B63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，必需搭配符合生態的硬體產品</a:t>
            </a:r>
            <a:endParaRPr b="1" sz="2600">
              <a:solidFill>
                <a:srgbClr val="4B6369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1143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zh-TW" sz="2600">
                <a:solidFill>
                  <a:srgbClr val="4B63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而軟體服務的水準則取決於</a:t>
            </a:r>
            <a:r>
              <a:rPr b="1" lang="zh-TW" sz="2600">
                <a:solidFill>
                  <a:srgbClr val="0000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運算單元</a:t>
            </a:r>
            <a:r>
              <a:rPr b="1" lang="zh-TW" sz="2600">
                <a:solidFill>
                  <a:srgbClr val="4B63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與</a:t>
            </a:r>
            <a:r>
              <a:rPr b="1" lang="zh-TW" sz="2600">
                <a:solidFill>
                  <a:srgbClr val="0000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記憶體</a:t>
            </a:r>
            <a:r>
              <a:rPr b="1" lang="zh-TW" sz="2600">
                <a:solidFill>
                  <a:srgbClr val="4B63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的頻寬</a:t>
            </a:r>
            <a:r>
              <a:rPr b="1" i="0" lang="zh-TW" sz="2600" u="none" cap="none" strike="noStrike">
                <a:solidFill>
                  <a:srgbClr val="4B63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。</a:t>
            </a:r>
            <a:endParaRPr b="1" i="0" sz="2600" u="none" cap="none" strike="noStrike">
              <a:solidFill>
                <a:srgbClr val="4B6369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57" name="Google Shape;57;p2"/>
          <p:cNvCxnSpPr/>
          <p:nvPr/>
        </p:nvCxnSpPr>
        <p:spPr>
          <a:xfrm>
            <a:off x="3985686" y="4133964"/>
            <a:ext cx="0" cy="2400000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" name="Google Shape;58;p2"/>
          <p:cNvCxnSpPr/>
          <p:nvPr/>
        </p:nvCxnSpPr>
        <p:spPr>
          <a:xfrm>
            <a:off x="7987180" y="4133964"/>
            <a:ext cx="0" cy="2400000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" name="Google Shape;59;p2"/>
          <p:cNvSpPr/>
          <p:nvPr/>
        </p:nvSpPr>
        <p:spPr>
          <a:xfrm>
            <a:off x="568827" y="4938063"/>
            <a:ext cx="3299400" cy="11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lang="zh-TW" sz="3100">
                <a:solidFill>
                  <a:srgbClr val="027F84"/>
                </a:solidFill>
              </a:rPr>
              <a:t>嵌入式邊緣裝置</a:t>
            </a:r>
            <a:endParaRPr b="1" i="0" sz="3100" u="none" cap="none" strike="noStrike">
              <a:solidFill>
                <a:srgbClr val="027F8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400">
                <a:solidFill>
                  <a:srgbClr val="4B6369"/>
                </a:solidFill>
              </a:rPr>
              <a:t>經由</a:t>
            </a:r>
            <a:r>
              <a:rPr b="1" lang="zh-TW" sz="2400">
                <a:solidFill>
                  <a:srgbClr val="4B6369"/>
                </a:solidFill>
              </a:rPr>
              <a:t>單一</a:t>
            </a:r>
            <a:r>
              <a:rPr b="1" lang="zh-TW" sz="2400">
                <a:solidFill>
                  <a:srgbClr val="4B6369"/>
                </a:solidFill>
              </a:rPr>
              <a:t>封裝、系統整合</a:t>
            </a:r>
            <a:r>
              <a:rPr lang="zh-TW" sz="2400">
                <a:solidFill>
                  <a:srgbClr val="4B6369"/>
                </a:solidFill>
              </a:rPr>
              <a:t>的AI算力產品</a:t>
            </a:r>
            <a:endParaRPr sz="2400">
              <a:solidFill>
                <a:srgbClr val="4B6369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4B6369"/>
              </a:solidFill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4105211" y="4938063"/>
            <a:ext cx="3787500" cy="11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lang="zh-TW" sz="3100">
                <a:solidFill>
                  <a:srgbClr val="027F84"/>
                </a:solidFill>
              </a:rPr>
              <a:t>工作站/ 伺服器</a:t>
            </a:r>
            <a:endParaRPr b="1" i="0" sz="3100" u="none" cap="none" strike="noStrike">
              <a:solidFill>
                <a:srgbClr val="027F8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400">
                <a:solidFill>
                  <a:srgbClr val="4B6369"/>
                </a:solidFill>
              </a:rPr>
              <a:t>經由加裝</a:t>
            </a:r>
            <a:r>
              <a:rPr b="1" lang="zh-TW" sz="2400">
                <a:solidFill>
                  <a:srgbClr val="4B6369"/>
                </a:solidFill>
              </a:rPr>
              <a:t>獨立顯示卡</a:t>
            </a:r>
            <a:r>
              <a:rPr lang="zh-TW" sz="2400">
                <a:solidFill>
                  <a:srgbClr val="4B6369"/>
                </a:solidFill>
              </a:rPr>
              <a:t>來提供AI算力的產品</a:t>
            </a:r>
            <a:r>
              <a:rPr b="0" i="0" lang="zh-TW" sz="2400" u="none" cap="none" strike="noStrike">
                <a:solidFill>
                  <a:srgbClr val="4B6369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2400">
              <a:solidFill>
                <a:srgbClr val="4B6369"/>
              </a:solidFill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4B6369"/>
              </a:solidFill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8067689" y="5154267"/>
            <a:ext cx="3640500" cy="11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lang="zh-TW" sz="3100">
                <a:solidFill>
                  <a:srgbClr val="027F84"/>
                </a:solidFill>
              </a:rPr>
              <a:t>雲端平台</a:t>
            </a:r>
            <a:endParaRPr b="1" i="0" sz="3100" u="none" cap="none" strike="noStrike">
              <a:solidFill>
                <a:srgbClr val="027F8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400">
                <a:solidFill>
                  <a:srgbClr val="4B6369"/>
                </a:solidFill>
              </a:rPr>
              <a:t>同屬</a:t>
            </a:r>
            <a:r>
              <a:rPr b="1" lang="zh-TW" sz="2400">
                <a:solidFill>
                  <a:srgbClr val="4B6369"/>
                </a:solidFill>
              </a:rPr>
              <a:t>獨立顯示卡</a:t>
            </a:r>
            <a:r>
              <a:rPr lang="zh-TW" sz="2400">
                <a:solidFill>
                  <a:srgbClr val="4B6369"/>
                </a:solidFill>
              </a:rPr>
              <a:t>的產品，只是經由網際網路提供AI服務</a:t>
            </a:r>
            <a:r>
              <a:rPr b="0" i="0" lang="zh-TW" sz="2400" u="none" cap="none" strike="noStrike">
                <a:solidFill>
                  <a:srgbClr val="4B6369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2400">
              <a:solidFill>
                <a:srgbClr val="4B6369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4B6369"/>
              </a:solidFill>
            </a:endParaRPr>
          </a:p>
        </p:txBody>
      </p:sp>
      <p:pic>
        <p:nvPicPr>
          <p:cNvPr id="62" name="Google Shape;62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1862" y="2246762"/>
            <a:ext cx="2373324" cy="1797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2"/>
          <p:cNvPicPr preferRelativeResize="0"/>
          <p:nvPr/>
        </p:nvPicPr>
        <p:blipFill rotWithShape="1">
          <a:blip r:embed="rId4">
            <a:alphaModFix/>
          </a:blip>
          <a:srcRect b="0" l="7014" r="5961" t="0"/>
          <a:stretch/>
        </p:blipFill>
        <p:spPr>
          <a:xfrm>
            <a:off x="7920700" y="2274650"/>
            <a:ext cx="3983448" cy="1907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85823" y="1702214"/>
            <a:ext cx="2925003" cy="29250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 txBox="1"/>
          <p:nvPr>
            <p:ph type="title"/>
          </p:nvPr>
        </p:nvSpPr>
        <p:spPr>
          <a:xfrm>
            <a:off x="0" y="0"/>
            <a:ext cx="12192000" cy="7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2B3"/>
              </a:buClr>
              <a:buSzPts val="3600"/>
              <a:buFont typeface="Microsoft YaHei"/>
              <a:buNone/>
            </a:pPr>
            <a:r>
              <a:rPr lang="zh-TW"/>
              <a:t>將計畫支援使用的產品登錄到平台</a:t>
            </a:r>
            <a:endParaRPr/>
          </a:p>
        </p:txBody>
      </p:sp>
      <p:pic>
        <p:nvPicPr>
          <p:cNvPr id="71" name="Google Shape;71;p9"/>
          <p:cNvPicPr preferRelativeResize="0"/>
          <p:nvPr/>
        </p:nvPicPr>
        <p:blipFill rotWithShape="1">
          <a:blip r:embed="rId3">
            <a:alphaModFix/>
          </a:blip>
          <a:srcRect b="17260" l="0" r="52308" t="0"/>
          <a:stretch/>
        </p:blipFill>
        <p:spPr>
          <a:xfrm>
            <a:off x="568827" y="2084894"/>
            <a:ext cx="3195026" cy="247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9"/>
          <p:cNvPicPr preferRelativeResize="0"/>
          <p:nvPr/>
        </p:nvPicPr>
        <p:blipFill rotWithShape="1">
          <a:blip r:embed="rId3">
            <a:alphaModFix/>
          </a:blip>
          <a:srcRect b="16569" l="51912" r="1159" t="12595"/>
          <a:stretch/>
        </p:blipFill>
        <p:spPr>
          <a:xfrm>
            <a:off x="3887850" y="2084894"/>
            <a:ext cx="3672135" cy="247525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/>
          <p:nvPr/>
        </p:nvSpPr>
        <p:spPr>
          <a:xfrm>
            <a:off x="1647075" y="795859"/>
            <a:ext cx="9896100" cy="1077300"/>
          </a:xfrm>
          <a:prstGeom prst="rect">
            <a:avLst/>
          </a:prstGeom>
          <a:solidFill>
            <a:srgbClr val="BBE0E3">
              <a:alpha val="2863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9"/>
          <p:cNvSpPr txBox="1"/>
          <p:nvPr/>
        </p:nvSpPr>
        <p:spPr>
          <a:xfrm>
            <a:off x="568826" y="801235"/>
            <a:ext cx="1106400" cy="1077300"/>
          </a:xfrm>
          <a:prstGeom prst="rect">
            <a:avLst/>
          </a:prstGeom>
          <a:solidFill>
            <a:srgbClr val="3C8C9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zh-TW" sz="3200">
                <a:solidFill>
                  <a:srgbClr val="FFFFFF"/>
                </a:solidFill>
              </a:rPr>
              <a:t>系統說明</a:t>
            </a:r>
            <a:endParaRPr b="1" sz="3200">
              <a:solidFill>
                <a:srgbClr val="FFFFFF"/>
              </a:solidFill>
            </a:endParaRPr>
          </a:p>
        </p:txBody>
      </p:sp>
      <p:sp>
        <p:nvSpPr>
          <p:cNvPr id="75" name="Google Shape;75;p9"/>
          <p:cNvSpPr txBox="1"/>
          <p:nvPr/>
        </p:nvSpPr>
        <p:spPr>
          <a:xfrm>
            <a:off x="1675225" y="797249"/>
            <a:ext cx="9896100" cy="109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zh-TW" sz="2600">
                <a:solidFill>
                  <a:srgbClr val="4B63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一部</a:t>
            </a:r>
            <a:r>
              <a:rPr b="1" lang="zh-TW" sz="2600">
                <a:solidFill>
                  <a:srgbClr val="98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硬體產品</a:t>
            </a:r>
            <a:r>
              <a:rPr b="1" lang="zh-TW" sz="2600">
                <a:solidFill>
                  <a:srgbClr val="4B63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的可能搭載1個以上的</a:t>
            </a:r>
            <a:r>
              <a:rPr b="1" lang="zh-TW" sz="2600">
                <a:solidFill>
                  <a:srgbClr val="0000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運算單元</a:t>
            </a:r>
            <a:r>
              <a:rPr lang="zh-TW" sz="1900">
                <a:solidFill>
                  <a:srgbClr val="4B63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(NPU, GPU1, GPU2…)</a:t>
            </a:r>
            <a:endParaRPr sz="1900">
              <a:solidFill>
                <a:srgbClr val="4B6369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1143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zh-TW" sz="2600">
                <a:solidFill>
                  <a:srgbClr val="4B63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每個運算單元皆需設定</a:t>
            </a:r>
            <a:r>
              <a:rPr b="1" lang="zh-TW" sz="2600">
                <a:solidFill>
                  <a:srgbClr val="0000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主要連結的記憶體</a:t>
            </a:r>
            <a:r>
              <a:rPr b="1" i="0" lang="zh-TW" sz="2600" u="none" cap="none" strike="noStrike">
                <a:solidFill>
                  <a:srgbClr val="4B63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。</a:t>
            </a:r>
            <a:endParaRPr b="1" i="0" sz="2600" u="none" cap="none" strike="noStrike">
              <a:solidFill>
                <a:srgbClr val="4B6369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6" name="Google Shape;76;p9"/>
          <p:cNvSpPr txBox="1"/>
          <p:nvPr/>
        </p:nvSpPr>
        <p:spPr>
          <a:xfrm>
            <a:off x="680022" y="4688978"/>
            <a:ext cx="40203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rgbClr val="027F84"/>
                </a:solidFill>
              </a:rPr>
              <a:t>經常出現於</a:t>
            </a:r>
            <a:endParaRPr sz="2400">
              <a:solidFill>
                <a:srgbClr val="027F84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rgbClr val="027F84"/>
                </a:solidFill>
              </a:rPr>
              <a:t>工作站/ 伺服器/</a:t>
            </a:r>
            <a:r>
              <a:rPr b="1" lang="zh-TW" sz="2400">
                <a:solidFill>
                  <a:srgbClr val="027F84"/>
                </a:solidFill>
              </a:rPr>
              <a:t>雲端平台 </a:t>
            </a:r>
            <a:endParaRPr b="1" sz="2400">
              <a:solidFill>
                <a:srgbClr val="027F84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rgbClr val="027F84"/>
                </a:solidFill>
              </a:rPr>
              <a:t>類型產品</a:t>
            </a:r>
            <a:endParaRPr sz="2400">
              <a:solidFill>
                <a:srgbClr val="027F84"/>
              </a:solidFill>
            </a:endParaRPr>
          </a:p>
        </p:txBody>
      </p:sp>
      <p:sp>
        <p:nvSpPr>
          <p:cNvPr id="77" name="Google Shape;77;p9"/>
          <p:cNvSpPr txBox="1"/>
          <p:nvPr/>
        </p:nvSpPr>
        <p:spPr>
          <a:xfrm>
            <a:off x="4835503" y="4698960"/>
            <a:ext cx="3000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rgbClr val="027F84"/>
                </a:solidFill>
              </a:rPr>
              <a:t>經常</a:t>
            </a:r>
            <a:r>
              <a:rPr lang="zh-TW" sz="2400">
                <a:solidFill>
                  <a:srgbClr val="027F84"/>
                </a:solidFill>
              </a:rPr>
              <a:t>出現</a:t>
            </a:r>
            <a:r>
              <a:rPr lang="zh-TW" sz="2400">
                <a:solidFill>
                  <a:srgbClr val="027F84"/>
                </a:solidFill>
              </a:rPr>
              <a:t>於</a:t>
            </a:r>
            <a:endParaRPr sz="2400">
              <a:solidFill>
                <a:srgbClr val="027F84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rgbClr val="027F84"/>
                </a:solidFill>
              </a:rPr>
              <a:t>SoC/ SoM</a:t>
            </a:r>
            <a:r>
              <a:rPr b="1" lang="zh-TW" sz="2400">
                <a:solidFill>
                  <a:srgbClr val="027F84"/>
                </a:solidFill>
              </a:rPr>
              <a:t>邊緣裝置</a:t>
            </a:r>
            <a:endParaRPr b="1" sz="2400">
              <a:solidFill>
                <a:srgbClr val="027F84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rgbClr val="027F84"/>
                </a:solidFill>
              </a:rPr>
              <a:t>類型產品</a:t>
            </a:r>
            <a:endParaRPr sz="2400">
              <a:solidFill>
                <a:srgbClr val="027F84"/>
              </a:solidFill>
            </a:endParaRPr>
          </a:p>
        </p:txBody>
      </p:sp>
      <p:cxnSp>
        <p:nvCxnSpPr>
          <p:cNvPr id="78" name="Google Shape;78;p9"/>
          <p:cNvCxnSpPr/>
          <p:nvPr/>
        </p:nvCxnSpPr>
        <p:spPr>
          <a:xfrm flipH="1" rot="-5400000">
            <a:off x="336812" y="5085785"/>
            <a:ext cx="972000" cy="206400"/>
          </a:xfrm>
          <a:prstGeom prst="bentConnector3">
            <a:avLst>
              <a:gd fmla="val 99990" name="adj1"/>
            </a:avLst>
          </a:prstGeom>
          <a:noFill/>
          <a:ln cap="flat" cmpd="sng" w="19050">
            <a:solidFill>
              <a:srgbClr val="00B2B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" name="Google Shape;79;p9"/>
          <p:cNvCxnSpPr/>
          <p:nvPr/>
        </p:nvCxnSpPr>
        <p:spPr>
          <a:xfrm flipH="1" rot="-5400000">
            <a:off x="4328108" y="5102760"/>
            <a:ext cx="972000" cy="206400"/>
          </a:xfrm>
          <a:prstGeom prst="bentConnector3">
            <a:avLst>
              <a:gd fmla="val 99990" name="adj1"/>
            </a:avLst>
          </a:prstGeom>
          <a:noFill/>
          <a:ln cap="flat" cmpd="sng" w="19050">
            <a:solidFill>
              <a:srgbClr val="00B2B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" name="Google Shape;80;p9"/>
          <p:cNvSpPr txBox="1"/>
          <p:nvPr/>
        </p:nvSpPr>
        <p:spPr>
          <a:xfrm>
            <a:off x="7752564" y="1910546"/>
            <a:ext cx="1738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000">
                <a:solidFill>
                  <a:schemeClr val="dk1"/>
                </a:solidFill>
              </a:rPr>
              <a:t>登入 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000">
                <a:solidFill>
                  <a:schemeClr val="dk1"/>
                </a:solidFill>
              </a:rPr>
              <a:t>&gt; AI資源發布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000">
                <a:solidFill>
                  <a:schemeClr val="dk1"/>
                </a:solidFill>
              </a:rPr>
              <a:t>&gt; 我的產品</a:t>
            </a:r>
            <a:endParaRPr b="1" sz="2000">
              <a:solidFill>
                <a:schemeClr val="dk1"/>
              </a:solidFill>
            </a:endParaRPr>
          </a:p>
        </p:txBody>
      </p:sp>
      <p:pic>
        <p:nvPicPr>
          <p:cNvPr id="81" name="Google Shape;81;p9"/>
          <p:cNvPicPr preferRelativeResize="0"/>
          <p:nvPr/>
        </p:nvPicPr>
        <p:blipFill rotWithShape="1">
          <a:blip r:embed="rId4">
            <a:alphaModFix/>
          </a:blip>
          <a:srcRect b="34835" l="0" r="39748" t="20430"/>
          <a:stretch/>
        </p:blipFill>
        <p:spPr>
          <a:xfrm>
            <a:off x="9491214" y="2244077"/>
            <a:ext cx="1914100" cy="6628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2" name="Google Shape;82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41751" y="2976999"/>
            <a:ext cx="3569801" cy="365362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9"/>
          <p:cNvSpPr/>
          <p:nvPr/>
        </p:nvSpPr>
        <p:spPr>
          <a:xfrm>
            <a:off x="8251600" y="4621125"/>
            <a:ext cx="3319500" cy="3654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一個系統產品可配備多個處理單元</a:t>
            </a:r>
            <a:endParaRPr b="1" sz="15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4" name="Google Shape;84;p9"/>
          <p:cNvSpPr/>
          <p:nvPr/>
        </p:nvSpPr>
        <p:spPr>
          <a:xfrm>
            <a:off x="7752575" y="5001100"/>
            <a:ext cx="3790500" cy="12978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5494daa5e_0_41"/>
          <p:cNvSpPr txBox="1"/>
          <p:nvPr>
            <p:ph type="title"/>
          </p:nvPr>
        </p:nvSpPr>
        <p:spPr>
          <a:xfrm>
            <a:off x="0" y="0"/>
            <a:ext cx="12192000" cy="7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zh-TW"/>
              <a:t>為產品新增模型的</a:t>
            </a:r>
            <a:r>
              <a:rPr lang="zh-TW"/>
              <a:t>部署選項</a:t>
            </a:r>
            <a:endParaRPr/>
          </a:p>
        </p:txBody>
      </p:sp>
      <p:pic>
        <p:nvPicPr>
          <p:cNvPr id="91" name="Google Shape;91;g3f5494daa5e_0_41"/>
          <p:cNvPicPr preferRelativeResize="0"/>
          <p:nvPr/>
        </p:nvPicPr>
        <p:blipFill rotWithShape="1">
          <a:blip r:embed="rId3">
            <a:alphaModFix/>
          </a:blip>
          <a:srcRect b="5643" l="0" r="0" t="0"/>
          <a:stretch/>
        </p:blipFill>
        <p:spPr>
          <a:xfrm>
            <a:off x="568825" y="4013753"/>
            <a:ext cx="6107349" cy="2514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g3f5494daa5e_0_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0005" y="1883054"/>
            <a:ext cx="5818294" cy="205242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g3f5494daa5e_0_41"/>
          <p:cNvSpPr/>
          <p:nvPr/>
        </p:nvSpPr>
        <p:spPr>
          <a:xfrm>
            <a:off x="1647075" y="795859"/>
            <a:ext cx="9896100" cy="1077300"/>
          </a:xfrm>
          <a:prstGeom prst="rect">
            <a:avLst/>
          </a:prstGeom>
          <a:solidFill>
            <a:srgbClr val="BBE0E3">
              <a:alpha val="2863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f5494daa5e_0_41"/>
          <p:cNvSpPr txBox="1"/>
          <p:nvPr/>
        </p:nvSpPr>
        <p:spPr>
          <a:xfrm>
            <a:off x="568826" y="801235"/>
            <a:ext cx="1106400" cy="1077300"/>
          </a:xfrm>
          <a:prstGeom prst="rect">
            <a:avLst/>
          </a:prstGeom>
          <a:solidFill>
            <a:srgbClr val="3C8C9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zh-TW" sz="3200">
                <a:solidFill>
                  <a:srgbClr val="FFFFFF"/>
                </a:solidFill>
              </a:rPr>
              <a:t>名詞共識</a:t>
            </a:r>
            <a:endParaRPr b="1" sz="3200">
              <a:solidFill>
                <a:srgbClr val="FFFFFF"/>
              </a:solidFill>
            </a:endParaRPr>
          </a:p>
        </p:txBody>
      </p:sp>
      <p:sp>
        <p:nvSpPr>
          <p:cNvPr id="95" name="Google Shape;95;g3f5494daa5e_0_41"/>
          <p:cNvSpPr txBox="1"/>
          <p:nvPr/>
        </p:nvSpPr>
        <p:spPr>
          <a:xfrm>
            <a:off x="1675225" y="797249"/>
            <a:ext cx="9896100" cy="109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zh-TW" sz="2600">
                <a:solidFill>
                  <a:srgbClr val="4B63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神經網路模型的部署負載近似於推論過程的</a:t>
            </a:r>
            <a:r>
              <a:rPr b="1" lang="zh-TW" sz="2600">
                <a:solidFill>
                  <a:srgbClr val="98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參數</a:t>
            </a:r>
            <a:r>
              <a:rPr b="1" lang="zh-TW" sz="2600">
                <a:solidFill>
                  <a:srgbClr val="98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精度</a:t>
            </a:r>
            <a:r>
              <a:rPr b="1" lang="zh-TW" sz="2600">
                <a:solidFill>
                  <a:srgbClr val="4B63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與</a:t>
            </a:r>
            <a:r>
              <a:rPr b="1" lang="zh-TW" sz="2600">
                <a:solidFill>
                  <a:srgbClr val="98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數量</a:t>
            </a:r>
            <a:r>
              <a:rPr b="1" lang="zh-TW" sz="2600">
                <a:solidFill>
                  <a:srgbClr val="4B63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。</a:t>
            </a:r>
            <a:endParaRPr sz="1900">
              <a:solidFill>
                <a:srgbClr val="4B6369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zh-TW" sz="2600">
                <a:solidFill>
                  <a:srgbClr val="4B63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可藉由提供</a:t>
            </a:r>
            <a:r>
              <a:rPr b="1" lang="zh-TW" sz="2600">
                <a:solidFill>
                  <a:srgbClr val="0000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實際架構規格</a:t>
            </a:r>
            <a:r>
              <a:rPr b="1" lang="zh-TW" sz="2600">
                <a:solidFill>
                  <a:srgbClr val="4B63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，預覽模型於各產品上的執行效能</a:t>
            </a:r>
            <a:r>
              <a:rPr b="1" i="0" lang="zh-TW" sz="2600" u="none" cap="none" strike="noStrike">
                <a:solidFill>
                  <a:srgbClr val="4B63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。</a:t>
            </a:r>
            <a:endParaRPr b="1" i="0" sz="2600" u="none" cap="none" strike="noStrike">
              <a:solidFill>
                <a:srgbClr val="4B6369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6" name="Google Shape;96;g3f5494daa5e_0_41"/>
          <p:cNvSpPr txBox="1"/>
          <p:nvPr/>
        </p:nvSpPr>
        <p:spPr>
          <a:xfrm>
            <a:off x="6845072" y="1906143"/>
            <a:ext cx="1738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000">
                <a:solidFill>
                  <a:schemeClr val="dk1"/>
                </a:solidFill>
              </a:rPr>
              <a:t>登入 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000">
                <a:solidFill>
                  <a:schemeClr val="dk1"/>
                </a:solidFill>
              </a:rPr>
              <a:t>&gt; AI資源發布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000">
                <a:solidFill>
                  <a:schemeClr val="dk1"/>
                </a:solidFill>
              </a:rPr>
              <a:t>&gt; 我的</a:t>
            </a:r>
            <a:r>
              <a:rPr b="1" lang="zh-TW" sz="2000">
                <a:solidFill>
                  <a:schemeClr val="dk1"/>
                </a:solidFill>
              </a:rPr>
              <a:t>模型</a:t>
            </a:r>
            <a:endParaRPr b="1" sz="2000">
              <a:solidFill>
                <a:schemeClr val="dk1"/>
              </a:solidFill>
            </a:endParaRPr>
          </a:p>
        </p:txBody>
      </p:sp>
      <p:pic>
        <p:nvPicPr>
          <p:cNvPr id="97" name="Google Shape;97;g3f5494daa5e_0_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66926" y="3024050"/>
            <a:ext cx="4015466" cy="36536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3f5494daa5e_0_41"/>
          <p:cNvSpPr/>
          <p:nvPr/>
        </p:nvSpPr>
        <p:spPr>
          <a:xfrm>
            <a:off x="8600594" y="4527950"/>
            <a:ext cx="2664900" cy="3654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需在前一步先新增硬體產品</a:t>
            </a:r>
            <a:endParaRPr b="1" sz="15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9" name="Google Shape;99;g3f5494daa5e_0_41"/>
          <p:cNvSpPr/>
          <p:nvPr/>
        </p:nvSpPr>
        <p:spPr>
          <a:xfrm>
            <a:off x="7117391" y="4013750"/>
            <a:ext cx="4142400" cy="5142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00" name="Google Shape;100;g3f5494daa5e_0_41"/>
          <p:cNvPicPr preferRelativeResize="0"/>
          <p:nvPr/>
        </p:nvPicPr>
        <p:blipFill rotWithShape="1">
          <a:blip r:embed="rId6">
            <a:alphaModFix/>
          </a:blip>
          <a:srcRect b="10778" l="14164" r="5765" t="18780"/>
          <a:stretch/>
        </p:blipFill>
        <p:spPr>
          <a:xfrm>
            <a:off x="8845502" y="2039350"/>
            <a:ext cx="2443225" cy="8631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6f8ddc8c5_0_100"/>
          <p:cNvSpPr txBox="1"/>
          <p:nvPr>
            <p:ph type="title"/>
          </p:nvPr>
        </p:nvSpPr>
        <p:spPr>
          <a:xfrm>
            <a:off x="0" y="0"/>
            <a:ext cx="12192000" cy="7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zh-TW"/>
              <a:t>為</a:t>
            </a:r>
            <a:r>
              <a:rPr lang="zh-TW"/>
              <a:t>產</a:t>
            </a:r>
            <a:r>
              <a:rPr lang="zh-TW"/>
              <a:t>/ 模型添加公開使用說明書</a:t>
            </a:r>
            <a:endParaRPr/>
          </a:p>
        </p:txBody>
      </p:sp>
      <p:pic>
        <p:nvPicPr>
          <p:cNvPr id="107" name="Google Shape;107;g3e6f8ddc8c5_0_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7011" y="751463"/>
            <a:ext cx="4633025" cy="2978999"/>
          </a:xfrm>
          <a:prstGeom prst="rect">
            <a:avLst/>
          </a:prstGeom>
          <a:noFill/>
          <a:ln cap="flat" cmpd="sng" w="7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8" name="Google Shape;108;g3e6f8ddc8c5_0_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3265" y="743288"/>
            <a:ext cx="4413302" cy="2995349"/>
          </a:xfrm>
          <a:prstGeom prst="rect">
            <a:avLst/>
          </a:prstGeom>
          <a:noFill/>
          <a:ln cap="flat" cmpd="sng" w="7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9" name="Google Shape;109;g3e6f8ddc8c5_0_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3264" y="3815700"/>
            <a:ext cx="4413301" cy="2691197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0" name="Google Shape;110;g3e6f8ddc8c5_0_100"/>
          <p:cNvSpPr/>
          <p:nvPr/>
        </p:nvSpPr>
        <p:spPr>
          <a:xfrm>
            <a:off x="6356226" y="1558600"/>
            <a:ext cx="4492200" cy="21720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1" name="Google Shape;111;g3e6f8ddc8c5_0_100"/>
          <p:cNvSpPr/>
          <p:nvPr/>
        </p:nvSpPr>
        <p:spPr>
          <a:xfrm>
            <a:off x="10848424" y="1558600"/>
            <a:ext cx="395700" cy="2172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系統安裝+框架驗證</a:t>
            </a:r>
            <a:endParaRPr b="1" sz="15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12" name="Google Shape;112;g3e6f8ddc8c5_0_1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87000" y="3815700"/>
            <a:ext cx="4561423" cy="2738873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g3e6f8ddc8c5_0_100"/>
          <p:cNvSpPr/>
          <p:nvPr/>
        </p:nvSpPr>
        <p:spPr>
          <a:xfrm>
            <a:off x="6356226" y="4382575"/>
            <a:ext cx="4492200" cy="21720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4" name="Google Shape;114;g3e6f8ddc8c5_0_100"/>
          <p:cNvSpPr/>
          <p:nvPr/>
        </p:nvSpPr>
        <p:spPr>
          <a:xfrm>
            <a:off x="10848424" y="4382575"/>
            <a:ext cx="395700" cy="2172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框架啟動+模型推論</a:t>
            </a:r>
            <a:endParaRPr b="1" sz="15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5494daa5e_0_51"/>
          <p:cNvSpPr txBox="1"/>
          <p:nvPr>
            <p:ph type="title"/>
          </p:nvPr>
        </p:nvSpPr>
        <p:spPr>
          <a:xfrm>
            <a:off x="0" y="0"/>
            <a:ext cx="12192000" cy="7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zh-TW"/>
              <a:t>通過網站商議適合導入計畫的方案</a:t>
            </a:r>
            <a:endParaRPr/>
          </a:p>
        </p:txBody>
      </p:sp>
      <p:sp>
        <p:nvSpPr>
          <p:cNvPr id="121" name="Google Shape;121;g3f5494daa5e_0_51"/>
          <p:cNvSpPr txBox="1"/>
          <p:nvPr>
            <p:ph type="title"/>
          </p:nvPr>
        </p:nvSpPr>
        <p:spPr>
          <a:xfrm>
            <a:off x="5986525" y="753625"/>
            <a:ext cx="5700600" cy="7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zh-TW" sz="2400">
                <a:solidFill>
                  <a:srgbClr val="027F84"/>
                </a:solidFill>
              </a:rPr>
              <a:t>面向「</a:t>
            </a:r>
            <a:r>
              <a:rPr lang="zh-TW" sz="2400">
                <a:solidFill>
                  <a:srgbClr val="027F84"/>
                </a:solidFill>
              </a:rPr>
              <a:t>模型方案」</a:t>
            </a:r>
            <a:r>
              <a:rPr lang="zh-TW" sz="2400">
                <a:solidFill>
                  <a:srgbClr val="027F84"/>
                </a:solidFill>
              </a:rPr>
              <a:t>導向的</a:t>
            </a:r>
            <a:r>
              <a:rPr lang="zh-TW" sz="2400">
                <a:solidFill>
                  <a:srgbClr val="027F84"/>
                </a:solidFill>
              </a:rPr>
              <a:t>需求</a:t>
            </a:r>
            <a:endParaRPr sz="2400">
              <a:solidFill>
                <a:srgbClr val="027F84"/>
              </a:solidFill>
            </a:endParaRPr>
          </a:p>
        </p:txBody>
      </p:sp>
      <p:sp>
        <p:nvSpPr>
          <p:cNvPr id="122" name="Google Shape;122;g3f5494daa5e_0_51"/>
          <p:cNvSpPr txBox="1"/>
          <p:nvPr>
            <p:ph type="title"/>
          </p:nvPr>
        </p:nvSpPr>
        <p:spPr>
          <a:xfrm>
            <a:off x="248802" y="753625"/>
            <a:ext cx="5644500" cy="7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zh-TW" sz="2400">
                <a:solidFill>
                  <a:srgbClr val="027F84"/>
                </a:solidFill>
              </a:rPr>
              <a:t>面向「晶片系統」導向的需求</a:t>
            </a:r>
            <a:endParaRPr sz="2400">
              <a:solidFill>
                <a:srgbClr val="027F84"/>
              </a:solidFill>
            </a:endParaRPr>
          </a:p>
        </p:txBody>
      </p:sp>
      <p:sp>
        <p:nvSpPr>
          <p:cNvPr id="123" name="Google Shape;123;g3f5494daa5e_0_51"/>
          <p:cNvSpPr txBox="1"/>
          <p:nvPr/>
        </p:nvSpPr>
        <p:spPr>
          <a:xfrm>
            <a:off x="457377" y="1441500"/>
            <a:ext cx="5436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000">
                <a:solidFill>
                  <a:schemeClr val="dk1"/>
                </a:solidFill>
              </a:rPr>
              <a:t>產品</a:t>
            </a:r>
            <a:r>
              <a:rPr b="1" lang="zh-TW" sz="2000">
                <a:solidFill>
                  <a:schemeClr val="dk1"/>
                </a:solidFill>
              </a:rPr>
              <a:t> </a:t>
            </a:r>
            <a:r>
              <a:rPr b="1" lang="zh-TW" sz="2000">
                <a:solidFill>
                  <a:schemeClr val="dk1"/>
                </a:solidFill>
              </a:rPr>
              <a:t>&gt; 晶片部署 </a:t>
            </a:r>
            <a:r>
              <a:rPr b="1" lang="zh-TW" sz="2000">
                <a:solidFill>
                  <a:schemeClr val="dk1"/>
                </a:solidFill>
              </a:rPr>
              <a:t>&gt; </a:t>
            </a:r>
            <a:r>
              <a:rPr b="1" lang="zh-TW" sz="2000">
                <a:solidFill>
                  <a:schemeClr val="dk1"/>
                </a:solidFill>
              </a:rPr>
              <a:t>部署選項</a:t>
            </a:r>
            <a:endParaRPr b="1" sz="2000">
              <a:solidFill>
                <a:schemeClr val="dk1"/>
              </a:solidFill>
            </a:endParaRPr>
          </a:p>
        </p:txBody>
      </p:sp>
      <p:sp>
        <p:nvSpPr>
          <p:cNvPr id="124" name="Google Shape;124;g3f5494daa5e_0_51"/>
          <p:cNvSpPr txBox="1"/>
          <p:nvPr/>
        </p:nvSpPr>
        <p:spPr>
          <a:xfrm>
            <a:off x="6060752" y="1441500"/>
            <a:ext cx="5436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000">
                <a:solidFill>
                  <a:schemeClr val="dk1"/>
                </a:solidFill>
              </a:rPr>
              <a:t>產品</a:t>
            </a:r>
            <a:r>
              <a:rPr b="1" lang="zh-TW" sz="2000">
                <a:solidFill>
                  <a:schemeClr val="dk1"/>
                </a:solidFill>
              </a:rPr>
              <a:t> &gt; </a:t>
            </a:r>
            <a:r>
              <a:rPr b="1" lang="zh-TW" sz="2000">
                <a:solidFill>
                  <a:schemeClr val="dk1"/>
                </a:solidFill>
              </a:rPr>
              <a:t>晶片部署</a:t>
            </a:r>
            <a:r>
              <a:rPr b="1" lang="zh-TW" sz="2000">
                <a:solidFill>
                  <a:schemeClr val="dk1"/>
                </a:solidFill>
              </a:rPr>
              <a:t> &gt; </a:t>
            </a:r>
            <a:r>
              <a:rPr b="1" lang="zh-TW" sz="2000">
                <a:solidFill>
                  <a:schemeClr val="dk1"/>
                </a:solidFill>
              </a:rPr>
              <a:t>模型小卡</a:t>
            </a:r>
            <a:endParaRPr b="1" sz="2000">
              <a:solidFill>
                <a:schemeClr val="dk1"/>
              </a:solidFill>
            </a:endParaRPr>
          </a:p>
        </p:txBody>
      </p:sp>
      <p:pic>
        <p:nvPicPr>
          <p:cNvPr id="125" name="Google Shape;125;g3f5494daa5e_0_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975" y="2032634"/>
            <a:ext cx="5568801" cy="39380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6" name="Google Shape;126;g3f5494daa5e_0_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60750" y="2032622"/>
            <a:ext cx="5644501" cy="395429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5494daa5e_0_46"/>
          <p:cNvSpPr txBox="1"/>
          <p:nvPr>
            <p:ph type="title"/>
          </p:nvPr>
        </p:nvSpPr>
        <p:spPr>
          <a:xfrm>
            <a:off x="0" y="0"/>
            <a:ext cx="12192000" cy="7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zh-TW"/>
              <a:t>模型上架的選項</a:t>
            </a:r>
            <a:endParaRPr/>
          </a:p>
        </p:txBody>
      </p:sp>
      <p:sp>
        <p:nvSpPr>
          <p:cNvPr id="133" name="Google Shape;133;g3f5494daa5e_0_46"/>
          <p:cNvSpPr txBox="1"/>
          <p:nvPr>
            <p:ph type="title"/>
          </p:nvPr>
        </p:nvSpPr>
        <p:spPr>
          <a:xfrm>
            <a:off x="812614" y="836284"/>
            <a:ext cx="2749500" cy="8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425" lIns="100850" spcFirstLastPara="1" rIns="100850" wrap="square" tIns="50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972"/>
              <a:buNone/>
            </a:pPr>
            <a:r>
              <a:rPr lang="zh-TW" sz="2648">
                <a:solidFill>
                  <a:srgbClr val="027F84"/>
                </a:solidFill>
              </a:rPr>
              <a:t>Github 儲存庫</a:t>
            </a:r>
            <a:endParaRPr sz="2648">
              <a:solidFill>
                <a:srgbClr val="027F84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972"/>
              <a:buNone/>
            </a:pPr>
            <a:r>
              <a:rPr b="0" lang="zh-TW" sz="2206">
                <a:solidFill>
                  <a:srgbClr val="434343"/>
                </a:solidFill>
              </a:rPr>
              <a:t>Level 1</a:t>
            </a:r>
            <a:endParaRPr b="0" sz="2206">
              <a:solidFill>
                <a:srgbClr val="434343"/>
              </a:solidFill>
            </a:endParaRPr>
          </a:p>
        </p:txBody>
      </p:sp>
      <p:sp>
        <p:nvSpPr>
          <p:cNvPr id="134" name="Google Shape;134;g3f5494daa5e_0_46"/>
          <p:cNvSpPr/>
          <p:nvPr/>
        </p:nvSpPr>
        <p:spPr>
          <a:xfrm>
            <a:off x="521939" y="1830329"/>
            <a:ext cx="3396300" cy="4355100"/>
          </a:xfrm>
          <a:prstGeom prst="roundRect">
            <a:avLst>
              <a:gd fmla="val 11000" name="adj"/>
            </a:avLst>
          </a:prstGeom>
          <a:solidFill>
            <a:srgbClr val="BBE0E3">
              <a:alpha val="28630"/>
            </a:srgbClr>
          </a:solidFill>
          <a:ln cap="flat" cmpd="sng" w="10500">
            <a:solidFill>
              <a:srgbClr val="00B2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850" lIns="100850" spcFirstLastPara="1" rIns="100850" wrap="square" tIns="100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44">
              <a:highlight>
                <a:srgbClr val="D9EAD3"/>
              </a:highlight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5" name="Google Shape;135;g3f5494daa5e_0_46"/>
          <p:cNvSpPr/>
          <p:nvPr/>
        </p:nvSpPr>
        <p:spPr>
          <a:xfrm>
            <a:off x="4397856" y="1830329"/>
            <a:ext cx="3396300" cy="4355100"/>
          </a:xfrm>
          <a:prstGeom prst="roundRect">
            <a:avLst>
              <a:gd fmla="val 11000" name="adj"/>
            </a:avLst>
          </a:prstGeom>
          <a:solidFill>
            <a:srgbClr val="BBE0E3">
              <a:alpha val="28630"/>
            </a:srgbClr>
          </a:solidFill>
          <a:ln cap="flat" cmpd="sng" w="10500">
            <a:solidFill>
              <a:srgbClr val="00B2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850" lIns="100850" spcFirstLastPara="1" rIns="100850" wrap="square" tIns="100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44">
              <a:highlight>
                <a:srgbClr val="D9EAD3"/>
              </a:highlight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6" name="Google Shape;136;g3f5494daa5e_0_46"/>
          <p:cNvSpPr/>
          <p:nvPr/>
        </p:nvSpPr>
        <p:spPr>
          <a:xfrm>
            <a:off x="8273772" y="1830329"/>
            <a:ext cx="3396300" cy="4355100"/>
          </a:xfrm>
          <a:prstGeom prst="roundRect">
            <a:avLst>
              <a:gd fmla="val 11000" name="adj"/>
            </a:avLst>
          </a:prstGeom>
          <a:solidFill>
            <a:srgbClr val="BBE0E3">
              <a:alpha val="28630"/>
            </a:srgbClr>
          </a:solidFill>
          <a:ln cap="flat" cmpd="sng" w="10500">
            <a:solidFill>
              <a:srgbClr val="00B2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850" lIns="100850" spcFirstLastPara="1" rIns="100850" wrap="square" tIns="100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44">
              <a:highlight>
                <a:srgbClr val="D9EAD3"/>
              </a:highlight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7" name="Google Shape;137;g3f5494daa5e_0_46"/>
          <p:cNvSpPr txBox="1"/>
          <p:nvPr>
            <p:ph type="title"/>
          </p:nvPr>
        </p:nvSpPr>
        <p:spPr>
          <a:xfrm>
            <a:off x="4688531" y="836284"/>
            <a:ext cx="2749500" cy="8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425" lIns="100850" spcFirstLastPara="1" rIns="100850" wrap="square" tIns="50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972"/>
              <a:buNone/>
            </a:pPr>
            <a:r>
              <a:rPr lang="zh-TW" sz="2648">
                <a:solidFill>
                  <a:srgbClr val="027F84"/>
                </a:solidFill>
              </a:rPr>
              <a:t>自訂容器</a:t>
            </a:r>
            <a:endParaRPr sz="2648">
              <a:solidFill>
                <a:srgbClr val="027F84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972"/>
              <a:buNone/>
            </a:pPr>
            <a:r>
              <a:rPr b="0" lang="zh-TW" sz="2206">
                <a:solidFill>
                  <a:srgbClr val="434343"/>
                </a:solidFill>
              </a:rPr>
              <a:t>Level 2</a:t>
            </a:r>
            <a:endParaRPr sz="2648">
              <a:solidFill>
                <a:srgbClr val="027F84"/>
              </a:solidFill>
            </a:endParaRPr>
          </a:p>
        </p:txBody>
      </p:sp>
      <p:sp>
        <p:nvSpPr>
          <p:cNvPr id="138" name="Google Shape;138;g3f5494daa5e_0_46"/>
          <p:cNvSpPr txBox="1"/>
          <p:nvPr>
            <p:ph type="title"/>
          </p:nvPr>
        </p:nvSpPr>
        <p:spPr>
          <a:xfrm>
            <a:off x="8597284" y="836284"/>
            <a:ext cx="2749500" cy="8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425" lIns="100850" spcFirstLastPara="1" rIns="100850" wrap="square" tIns="50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972"/>
              <a:buNone/>
            </a:pPr>
            <a:r>
              <a:rPr lang="zh-TW" sz="2648">
                <a:solidFill>
                  <a:srgbClr val="027F84"/>
                </a:solidFill>
              </a:rPr>
              <a:t>CI/CD容器</a:t>
            </a:r>
            <a:endParaRPr sz="2648">
              <a:solidFill>
                <a:srgbClr val="027F84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972"/>
              <a:buNone/>
            </a:pPr>
            <a:r>
              <a:rPr b="0" lang="zh-TW" sz="2206">
                <a:solidFill>
                  <a:srgbClr val="434343"/>
                </a:solidFill>
              </a:rPr>
              <a:t>Level 3</a:t>
            </a:r>
            <a:endParaRPr sz="2648">
              <a:solidFill>
                <a:srgbClr val="027F84"/>
              </a:solidFill>
            </a:endParaRPr>
          </a:p>
        </p:txBody>
      </p:sp>
      <p:sp>
        <p:nvSpPr>
          <p:cNvPr id="139" name="Google Shape;139;g3f5494daa5e_0_46"/>
          <p:cNvSpPr txBox="1"/>
          <p:nvPr/>
        </p:nvSpPr>
        <p:spPr>
          <a:xfrm>
            <a:off x="521938" y="4683408"/>
            <a:ext cx="3396300" cy="13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850" lIns="100850" spcFirstLastPara="1" rIns="100850" wrap="square" tIns="100850">
            <a:spAutoFit/>
          </a:bodyPr>
          <a:lstStyle/>
          <a:p>
            <a:pPr indent="-398647" lvl="0" marL="50438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6"/>
              <a:buChar char="●"/>
            </a:pPr>
            <a:r>
              <a:rPr b="1" lang="zh-TW" sz="2306">
                <a:solidFill>
                  <a:schemeClr val="dk1"/>
                </a:solidFill>
              </a:rPr>
              <a:t>使用完全免費</a:t>
            </a:r>
            <a:endParaRPr b="1" sz="2306">
              <a:solidFill>
                <a:schemeClr val="dk1"/>
              </a:solidFill>
            </a:endParaRPr>
          </a:p>
          <a:p>
            <a:pPr indent="-398647" lvl="0" marL="50438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6"/>
              <a:buChar char="●"/>
            </a:pPr>
            <a:r>
              <a:rPr b="1" lang="zh-TW" sz="2306">
                <a:solidFill>
                  <a:schemeClr val="dk1"/>
                </a:solidFill>
              </a:rPr>
              <a:t>支援ML/ DL/ GenAI</a:t>
            </a:r>
            <a:endParaRPr b="1" sz="2306">
              <a:solidFill>
                <a:schemeClr val="dk1"/>
              </a:solidFill>
            </a:endParaRPr>
          </a:p>
          <a:p>
            <a:pPr indent="-398647" lvl="0" marL="50438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6"/>
              <a:buChar char="●"/>
            </a:pPr>
            <a:r>
              <a:rPr b="1" lang="zh-TW" sz="2306">
                <a:solidFill>
                  <a:schemeClr val="dk1"/>
                </a:solidFill>
              </a:rPr>
              <a:t>最簡單</a:t>
            </a:r>
            <a:endParaRPr b="1" sz="2306">
              <a:solidFill>
                <a:schemeClr val="dk1"/>
              </a:solidFill>
            </a:endParaRPr>
          </a:p>
        </p:txBody>
      </p:sp>
      <p:sp>
        <p:nvSpPr>
          <p:cNvPr id="140" name="Google Shape;140;g3f5494daa5e_0_46"/>
          <p:cNvSpPr txBox="1"/>
          <p:nvPr/>
        </p:nvSpPr>
        <p:spPr>
          <a:xfrm>
            <a:off x="4397854" y="4683408"/>
            <a:ext cx="3396300" cy="13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850" lIns="100850" spcFirstLastPara="1" rIns="100850" wrap="square" tIns="100850">
            <a:spAutoFit/>
          </a:bodyPr>
          <a:lstStyle/>
          <a:p>
            <a:pPr indent="-398647" lvl="0" marL="50438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6"/>
              <a:buChar char="●"/>
            </a:pPr>
            <a:r>
              <a:rPr b="1" lang="zh-TW" sz="2306">
                <a:solidFill>
                  <a:schemeClr val="dk1"/>
                </a:solidFill>
              </a:rPr>
              <a:t>一次性收費</a:t>
            </a:r>
            <a:endParaRPr b="1" sz="2306">
              <a:solidFill>
                <a:schemeClr val="dk1"/>
              </a:solidFill>
            </a:endParaRPr>
          </a:p>
          <a:p>
            <a:pPr indent="-398647" lvl="0" marL="50438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6"/>
              <a:buChar char="●"/>
            </a:pPr>
            <a:r>
              <a:rPr b="1" lang="zh-TW" sz="2306">
                <a:solidFill>
                  <a:schemeClr val="dk1"/>
                </a:solidFill>
              </a:rPr>
              <a:t>支援ML/ DL/ GenAI</a:t>
            </a:r>
            <a:endParaRPr b="1" sz="2306">
              <a:solidFill>
                <a:schemeClr val="dk1"/>
              </a:solidFill>
            </a:endParaRPr>
          </a:p>
          <a:p>
            <a:pPr indent="-398647" lvl="0" marL="50438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6"/>
              <a:buChar char="●"/>
            </a:pPr>
            <a:r>
              <a:rPr b="1" lang="zh-TW" sz="2306">
                <a:solidFill>
                  <a:schemeClr val="dk1"/>
                </a:solidFill>
              </a:rPr>
              <a:t>需熟悉Docker</a:t>
            </a:r>
            <a:endParaRPr b="1" sz="2306">
              <a:solidFill>
                <a:schemeClr val="dk1"/>
              </a:solidFill>
            </a:endParaRPr>
          </a:p>
        </p:txBody>
      </p:sp>
      <p:sp>
        <p:nvSpPr>
          <p:cNvPr id="141" name="Google Shape;141;g3f5494daa5e_0_46"/>
          <p:cNvSpPr txBox="1"/>
          <p:nvPr/>
        </p:nvSpPr>
        <p:spPr>
          <a:xfrm>
            <a:off x="8273770" y="4683408"/>
            <a:ext cx="3396300" cy="13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850" lIns="100850" spcFirstLastPara="1" rIns="100850" wrap="square" tIns="100850">
            <a:spAutoFit/>
          </a:bodyPr>
          <a:lstStyle/>
          <a:p>
            <a:pPr indent="-398647" lvl="0" marL="50438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6"/>
              <a:buChar char="●"/>
            </a:pPr>
            <a:r>
              <a:rPr b="1" lang="zh-TW" sz="2306">
                <a:solidFill>
                  <a:schemeClr val="dk1"/>
                </a:solidFill>
              </a:rPr>
              <a:t>週期性</a:t>
            </a:r>
            <a:r>
              <a:rPr b="1" lang="zh-TW" sz="2306">
                <a:solidFill>
                  <a:schemeClr val="dk1"/>
                </a:solidFill>
              </a:rPr>
              <a:t>收費</a:t>
            </a:r>
            <a:endParaRPr b="1" sz="2306">
              <a:solidFill>
                <a:schemeClr val="dk1"/>
              </a:solidFill>
            </a:endParaRPr>
          </a:p>
          <a:p>
            <a:pPr indent="-398647" lvl="0" marL="50438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6"/>
              <a:buChar char="●"/>
            </a:pPr>
            <a:r>
              <a:rPr b="1" lang="zh-TW" sz="2306">
                <a:solidFill>
                  <a:schemeClr val="dk1"/>
                </a:solidFill>
              </a:rPr>
              <a:t>僅支援GenAI</a:t>
            </a:r>
            <a:endParaRPr b="1" sz="2306">
              <a:solidFill>
                <a:schemeClr val="dk1"/>
              </a:solidFill>
            </a:endParaRPr>
          </a:p>
          <a:p>
            <a:pPr indent="-398647" lvl="0" marL="50438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6"/>
              <a:buChar char="●"/>
            </a:pPr>
            <a:r>
              <a:rPr b="1" lang="zh-TW" sz="2306">
                <a:solidFill>
                  <a:schemeClr val="dk1"/>
                </a:solidFill>
              </a:rPr>
              <a:t>需看懂模板，較困難</a:t>
            </a:r>
            <a:endParaRPr b="1" sz="2306">
              <a:solidFill>
                <a:schemeClr val="dk1"/>
              </a:solidFill>
            </a:endParaRPr>
          </a:p>
        </p:txBody>
      </p:sp>
      <p:pic>
        <p:nvPicPr>
          <p:cNvPr id="142" name="Google Shape;142;g3f5494daa5e_0_46"/>
          <p:cNvPicPr preferRelativeResize="0"/>
          <p:nvPr/>
        </p:nvPicPr>
        <p:blipFill rotWithShape="1">
          <a:blip r:embed="rId3">
            <a:alphaModFix/>
          </a:blip>
          <a:srcRect b="0" l="0" r="32474" t="0"/>
          <a:stretch/>
        </p:blipFill>
        <p:spPr>
          <a:xfrm>
            <a:off x="704766" y="2080900"/>
            <a:ext cx="2970574" cy="2214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3f5494daa5e_0_46"/>
          <p:cNvPicPr preferRelativeResize="0"/>
          <p:nvPr/>
        </p:nvPicPr>
        <p:blipFill rotWithShape="1">
          <a:blip r:embed="rId4">
            <a:alphaModFix/>
          </a:blip>
          <a:srcRect b="8206" l="0" r="19218" t="0"/>
          <a:stretch/>
        </p:blipFill>
        <p:spPr>
          <a:xfrm>
            <a:off x="4542650" y="2080893"/>
            <a:ext cx="3106365" cy="2214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g3f5494daa5e_0_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18838" y="2080896"/>
            <a:ext cx="3106375" cy="21706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6f8ddc8c5_0_156"/>
          <p:cNvSpPr txBox="1"/>
          <p:nvPr>
            <p:ph type="title"/>
          </p:nvPr>
        </p:nvSpPr>
        <p:spPr>
          <a:xfrm>
            <a:off x="0" y="0"/>
            <a:ext cx="12192000" cy="104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2B3"/>
              </a:buClr>
              <a:buSzPts val="3600"/>
              <a:buFont typeface="Microsoft YaHei"/>
              <a:buNone/>
            </a:pPr>
            <a:r>
              <a:rPr lang="zh-TW"/>
              <a:t>問題回報管道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2B3"/>
              </a:buClr>
              <a:buSzPts val="3600"/>
              <a:buFont typeface="Microsoft YaHei"/>
              <a:buNone/>
            </a:pPr>
            <a:r>
              <a:rPr lang="zh-TW" sz="2756"/>
              <a:t>https://github.com/R300-AI/ai-hub-webui</a:t>
            </a:r>
            <a:endParaRPr sz="2756"/>
          </a:p>
        </p:txBody>
      </p:sp>
      <p:sp>
        <p:nvSpPr>
          <p:cNvPr id="151" name="Google Shape;151;g3e6f8ddc8c5_0_156"/>
          <p:cNvSpPr txBox="1"/>
          <p:nvPr/>
        </p:nvSpPr>
        <p:spPr>
          <a:xfrm>
            <a:off x="11916927" y="6533234"/>
            <a:ext cx="275100" cy="27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3e6f8ddc8c5_0_156"/>
          <p:cNvSpPr/>
          <p:nvPr/>
        </p:nvSpPr>
        <p:spPr>
          <a:xfrm>
            <a:off x="520565" y="1102497"/>
            <a:ext cx="11151000" cy="104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g3e6f8ddc8c5_0_1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8463" y="1076766"/>
            <a:ext cx="10795069" cy="560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3e6f8ddc8c5_0_156"/>
          <p:cNvSpPr/>
          <p:nvPr/>
        </p:nvSpPr>
        <p:spPr>
          <a:xfrm>
            <a:off x="10137750" y="1841391"/>
            <a:ext cx="1458600" cy="4569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2025-01-10T03:32:57Z</dcterms:created>
  <dc:creator>劉家甄</dc:creator>
</cp:coreProperties>
</file>